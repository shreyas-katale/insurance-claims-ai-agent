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40" r:id="rId1"/>
  </p:sldMasterIdLst>
  <p:sldIdLst>
    <p:sldId id="256" r:id="rId2"/>
    <p:sldId id="257" r:id="rId3"/>
    <p:sldId id="258" r:id="rId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14" autoAdjust="0"/>
    <p:restoredTop sz="94660"/>
  </p:normalViewPr>
  <p:slideViewPr>
    <p:cSldViewPr snapToGrid="0">
      <p:cViewPr varScale="1">
        <p:scale>
          <a:sx n="150" d="100"/>
          <a:sy n="150" d="100"/>
        </p:scale>
        <p:origin x="624" y="1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E36636D-D922-432D-A958-524484B5923D}" type="datetimeFigureOut">
              <a:rPr lang="en-US" dirty="0"/>
              <a:pPr/>
              <a:t>4/22/2026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F28FB93-0A08-4E7D-8E63-9EFA29F1E093}"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E36636D-D922-432D-A958-524484B5923D}" type="datetimeFigureOut">
              <a:rPr lang="en-US" dirty="0"/>
              <a:pPr/>
              <a:t>4/22/2026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F28FB93-0A08-4E7D-8E63-9EFA29F1E093}"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E36636D-D922-432D-A958-524484B5923D}" type="datetimeFigureOut">
              <a:rPr lang="en-US" dirty="0"/>
              <a:pPr/>
              <a:t>4/22/2026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F28FB93-0A08-4E7D-8E63-9EFA29F1E093}"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E36636D-D922-432D-A958-524484B5923D}" type="datetimeFigureOut">
              <a:rPr lang="en-US" dirty="0"/>
              <a:pPr/>
              <a:t>4/22/2026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F28FB93-0A08-4E7D-8E63-9EFA29F1E093}"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E36636D-D922-432D-A958-524484B5923D}" type="datetimeFigureOut">
              <a:rPr lang="en-US" dirty="0"/>
              <a:pPr/>
              <a:t>4/22/2026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F28FB93-0A08-4E7D-8E63-9EFA29F1E093}"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E36636D-D922-432D-A958-524484B5923D}" type="datetimeFigureOut">
              <a:rPr lang="en-US" dirty="0"/>
              <a:pPr/>
              <a:t>4/22/2026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F28FB93-0A08-4E7D-8E63-9EFA29F1E093}"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36636D-D922-432D-A958-524484B5923D}" type="datetimeFigureOut">
              <a:rPr lang="en-US" dirty="0"/>
              <a:pPr/>
              <a:t>4/22/2026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F28FB93-0A08-4E7D-8E63-9EFA29F1E093}"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E36636D-D922-432D-A958-524484B5923D}" type="datetimeFigureOut">
              <a:rPr lang="en-US" dirty="0"/>
              <a:pPr/>
              <a:t>4/22/2026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F28FB93-0A08-4E7D-8E63-9EFA29F1E093}"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E36636D-D922-432D-A958-524484B5923D}" type="datetimeFigureOut">
              <a:rPr lang="en-US" dirty="0"/>
              <a:pPr/>
              <a:t>4/22/2026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F28FB93-0A08-4E7D-8E63-9EFA29F1E093}"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4/22/2026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4/22/2026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E36636D-D922-432D-A958-524484B5923D}" type="datetimeFigureOut">
              <a:rPr lang="en-US" dirty="0"/>
              <a:pPr/>
              <a:t>4/22/2026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F28FB93-0A08-4E7D-8E63-9EFA29F1E093}"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E36636D-D922-432D-A958-524484B5923D}" type="datetimeFigureOut">
              <a:rPr lang="en-US" dirty="0"/>
              <a:pPr/>
              <a:t>4/22/2026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F28FB93-0A08-4E7D-8E63-9EFA29F1E093}"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8E36636D-D922-432D-A958-524484B5923D}" type="datetimeFigureOut">
              <a:rPr lang="en-US" dirty="0"/>
              <a:pPr/>
              <a:t>4/22/2026</a:t>
            </a:fld>
            <a:endParaRPr lang="en-US" dirty="0"/>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US" dirty="0"/>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DF28FB93-0A08-4E7D-8E63-9EFA29F1E093}"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2" r:id="rId10"/>
    <p:sldLayoutId id="2147483853" r:id="rId11"/>
    <p:sldLayoutId id="2147483854" r:id="rId12"/>
    <p:sldLayoutId id="2147483855" r:id="rId13"/>
    <p:sldLayoutId id="2147483858" r:id="rId14"/>
    <p:sldLayoutId id="2147483859" r:id="rId15"/>
    <p:sldLayoutId id="2147483850" r:id="rId16"/>
    <p:sldLayoutId id="2147483851"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BEA84C-B8BF-A221-8487-21DD489C16A3}"/>
              </a:ext>
            </a:extLst>
          </p:cNvPr>
          <p:cNvSpPr>
            <a:spLocks noGrp="1"/>
          </p:cNvSpPr>
          <p:nvPr>
            <p:ph type="ctrTitle"/>
          </p:nvPr>
        </p:nvSpPr>
        <p:spPr>
          <a:xfrm>
            <a:off x="1375983" y="455091"/>
            <a:ext cx="9440034" cy="1081610"/>
          </a:xfrm>
        </p:spPr>
        <p:txBody>
          <a:bodyPr anchor="ctr"/>
          <a:lstStyle/>
          <a:p>
            <a:r>
              <a:rPr lang="en-US" dirty="0"/>
              <a:t>AI Claims Processing Agent</a:t>
            </a:r>
          </a:p>
        </p:txBody>
      </p:sp>
      <p:sp>
        <p:nvSpPr>
          <p:cNvPr id="4" name="TextBox 3">
            <a:extLst>
              <a:ext uri="{FF2B5EF4-FFF2-40B4-BE49-F238E27FC236}">
                <a16:creationId xmlns:a16="http://schemas.microsoft.com/office/drawing/2014/main" id="{67A107D0-D534-75D9-91F1-2FFD7F9E2EAE}"/>
              </a:ext>
            </a:extLst>
          </p:cNvPr>
          <p:cNvSpPr txBox="1"/>
          <p:nvPr/>
        </p:nvSpPr>
        <p:spPr>
          <a:xfrm>
            <a:off x="793750" y="2908300"/>
            <a:ext cx="9010650" cy="1908215"/>
          </a:xfrm>
          <a:prstGeom prst="rect">
            <a:avLst/>
          </a:prstGeom>
          <a:noFill/>
        </p:spPr>
        <p:txBody>
          <a:bodyPr wrap="square" rtlCol="0">
            <a:spAutoFit/>
          </a:bodyPr>
          <a:lstStyle/>
          <a:p>
            <a:r>
              <a:rPr lang="en-IN" sz="2400" dirty="0">
                <a:solidFill>
                  <a:schemeClr val="accent1"/>
                </a:solidFill>
              </a:rPr>
              <a:t>Objective:</a:t>
            </a:r>
          </a:p>
          <a:p>
            <a:endParaRPr lang="en-IN" dirty="0">
              <a:solidFill>
                <a:schemeClr val="accent1"/>
              </a:solidFill>
            </a:endParaRPr>
          </a:p>
          <a:p>
            <a:r>
              <a:rPr lang="en-US" dirty="0"/>
              <a:t>To build an </a:t>
            </a:r>
            <a:r>
              <a:rPr lang="en-US" b="1" dirty="0"/>
              <a:t>AI-powered insurance claims processor</a:t>
            </a:r>
            <a:r>
              <a:rPr lang="en-US" dirty="0"/>
              <a:t>. Where a customer has a totaled car and submits documents (PDFs, scanned images, emails). This agent reads those documents, extracts key data, checks if everything is consistent, decides what to do next, and talks to the customer if something's missing.</a:t>
            </a:r>
          </a:p>
        </p:txBody>
      </p:sp>
    </p:spTree>
    <p:extLst>
      <p:ext uri="{BB962C8B-B14F-4D97-AF65-F5344CB8AC3E}">
        <p14:creationId xmlns:p14="http://schemas.microsoft.com/office/powerpoint/2010/main" val="35933000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A1F758-1C90-B4CE-8B35-6610B88A1B79}"/>
              </a:ext>
            </a:extLst>
          </p:cNvPr>
          <p:cNvSpPr>
            <a:spLocks noGrp="1"/>
          </p:cNvSpPr>
          <p:nvPr>
            <p:ph type="title"/>
          </p:nvPr>
        </p:nvSpPr>
        <p:spPr>
          <a:xfrm>
            <a:off x="755045" y="222250"/>
            <a:ext cx="10353762" cy="970450"/>
          </a:xfrm>
        </p:spPr>
        <p:txBody>
          <a:bodyPr/>
          <a:lstStyle/>
          <a:p>
            <a:pPr algn="l"/>
            <a:r>
              <a:rPr lang="en-IN" dirty="0"/>
              <a:t>Functional Requirements</a:t>
            </a:r>
            <a:endParaRPr lang="en-US" dirty="0"/>
          </a:p>
        </p:txBody>
      </p:sp>
      <p:sp>
        <p:nvSpPr>
          <p:cNvPr id="3" name="Content Placeholder 2">
            <a:extLst>
              <a:ext uri="{FF2B5EF4-FFF2-40B4-BE49-F238E27FC236}">
                <a16:creationId xmlns:a16="http://schemas.microsoft.com/office/drawing/2014/main" id="{70B6F6D7-37D5-D538-A84B-0DE66913CE55}"/>
              </a:ext>
            </a:extLst>
          </p:cNvPr>
          <p:cNvSpPr>
            <a:spLocks noGrp="1"/>
          </p:cNvSpPr>
          <p:nvPr>
            <p:ph idx="1"/>
          </p:nvPr>
        </p:nvSpPr>
        <p:spPr>
          <a:xfrm>
            <a:off x="653445" y="1433999"/>
            <a:ext cx="10353762" cy="4839801"/>
          </a:xfrm>
        </p:spPr>
        <p:txBody>
          <a:bodyPr>
            <a:normAutofit fontScale="92500" lnSpcReduction="10000"/>
          </a:bodyPr>
          <a:lstStyle/>
          <a:p>
            <a:pPr marL="494100" indent="-457200">
              <a:buSzPct val="90000"/>
              <a:buFont typeface="+mj-lt"/>
              <a:buAutoNum type="arabicPeriod"/>
            </a:pPr>
            <a:r>
              <a:rPr lang="en-US" sz="1600" b="1" dirty="0">
                <a:solidFill>
                  <a:schemeClr val="accent1"/>
                </a:solidFill>
                <a:latin typeface="Calibri" panose="020F0502020204030204" pitchFamily="34" charset="0"/>
                <a:ea typeface="Calibri" panose="020F0502020204030204" pitchFamily="34" charset="0"/>
                <a:cs typeface="Calibri" panose="020F0502020204030204" pitchFamily="34" charset="0"/>
              </a:rPr>
              <a:t>Document Intake</a:t>
            </a:r>
            <a:r>
              <a:rPr lang="en-US" sz="1600" dirty="0">
                <a:solidFill>
                  <a:schemeClr val="accent1"/>
                </a:solidFill>
                <a:latin typeface="Calibri" panose="020F0502020204030204" pitchFamily="34" charset="0"/>
                <a:ea typeface="Calibri" panose="020F0502020204030204" pitchFamily="34" charset="0"/>
                <a:cs typeface="Calibri" panose="020F0502020204030204" pitchFamily="34" charset="0"/>
              </a:rPr>
              <a:t> </a:t>
            </a:r>
            <a:r>
              <a:rPr lang="en-US" sz="1600" dirty="0">
                <a:latin typeface="Calibri" panose="020F0502020204030204" pitchFamily="34" charset="0"/>
                <a:ea typeface="Calibri" panose="020F0502020204030204" pitchFamily="34" charset="0"/>
                <a:cs typeface="Calibri" panose="020F0502020204030204" pitchFamily="34" charset="0"/>
              </a:rPr>
              <a:t>:- Accept a claim folder, identify each file (police report, finance agreement, settlement breakdown, or "other"), and handle PDFs, scanned images, and plain text.</a:t>
            </a:r>
          </a:p>
          <a:p>
            <a:pPr marL="494100" indent="-457200">
              <a:buSzPct val="90000"/>
              <a:buFont typeface="+mj-lt"/>
              <a:buAutoNum type="arabicPeriod"/>
            </a:pPr>
            <a:r>
              <a:rPr lang="en-US" sz="1600" b="1" dirty="0">
                <a:solidFill>
                  <a:schemeClr val="accent1"/>
                </a:solidFill>
                <a:latin typeface="Calibri" panose="020F0502020204030204" pitchFamily="34" charset="0"/>
                <a:ea typeface="Calibri" panose="020F0502020204030204" pitchFamily="34" charset="0"/>
                <a:cs typeface="Calibri" panose="020F0502020204030204" pitchFamily="34" charset="0"/>
              </a:rPr>
              <a:t>Field Extraction</a:t>
            </a:r>
            <a:r>
              <a:rPr lang="en-US" sz="1600" dirty="0">
                <a:solidFill>
                  <a:schemeClr val="accent1"/>
                </a:solidFill>
                <a:latin typeface="Calibri" panose="020F0502020204030204" pitchFamily="34" charset="0"/>
                <a:ea typeface="Calibri" panose="020F0502020204030204" pitchFamily="34" charset="0"/>
                <a:cs typeface="Calibri" panose="020F0502020204030204" pitchFamily="34" charset="0"/>
              </a:rPr>
              <a:t> </a:t>
            </a:r>
            <a:r>
              <a:rPr lang="en-US" sz="1600" dirty="0">
                <a:latin typeface="Calibri" panose="020F0502020204030204" pitchFamily="34" charset="0"/>
                <a:ea typeface="Calibri" panose="020F0502020204030204" pitchFamily="34" charset="0"/>
                <a:cs typeface="Calibri" panose="020F0502020204030204" pitchFamily="34" charset="0"/>
              </a:rPr>
              <a:t>:- Pull out four key fields: VIN (17-char alphanumeric), Date of Loss (valid date), Insurance Payout (number), and Outstanding Loan Balance (number). Each field gets a confidence score (high/medium/low) with a reason if not high.</a:t>
            </a:r>
          </a:p>
          <a:p>
            <a:pPr marL="494100" indent="-457200">
              <a:buSzPct val="90000"/>
              <a:buFont typeface="+mj-lt"/>
              <a:buAutoNum type="arabicPeriod"/>
            </a:pPr>
            <a:r>
              <a:rPr lang="en-US" sz="1600" b="1" dirty="0">
                <a:solidFill>
                  <a:schemeClr val="accent1"/>
                </a:solidFill>
                <a:latin typeface="Calibri" panose="020F0502020204030204" pitchFamily="34" charset="0"/>
                <a:ea typeface="Calibri" panose="020F0502020204030204" pitchFamily="34" charset="0"/>
                <a:cs typeface="Calibri" panose="020F0502020204030204" pitchFamily="34" charset="0"/>
              </a:rPr>
              <a:t>Cross-Document Validation</a:t>
            </a:r>
            <a:r>
              <a:rPr lang="en-US" sz="1600" dirty="0">
                <a:solidFill>
                  <a:schemeClr val="accent1"/>
                </a:solidFill>
                <a:latin typeface="Calibri" panose="020F0502020204030204" pitchFamily="34" charset="0"/>
                <a:ea typeface="Calibri" panose="020F0502020204030204" pitchFamily="34" charset="0"/>
                <a:cs typeface="Calibri" panose="020F0502020204030204" pitchFamily="34" charset="0"/>
              </a:rPr>
              <a:t> </a:t>
            </a:r>
            <a:r>
              <a:rPr lang="en-US" sz="1600" dirty="0">
                <a:latin typeface="Calibri" panose="020F0502020204030204" pitchFamily="34" charset="0"/>
                <a:ea typeface="Calibri" panose="020F0502020204030204" pitchFamily="34" charset="0"/>
                <a:cs typeface="Calibri" panose="020F0502020204030204" pitchFamily="34" charset="0"/>
              </a:rPr>
              <a:t>:- If a VIN appears in both the police report and the finance agreement, they should match. Flag conflicts, detect duplicate documents, and suggest the likely correct value when possible.</a:t>
            </a:r>
          </a:p>
          <a:p>
            <a:pPr marL="494100" indent="-457200">
              <a:buSzPct val="90000"/>
              <a:buFont typeface="+mj-lt"/>
              <a:buAutoNum type="arabicPeriod"/>
            </a:pPr>
            <a:r>
              <a:rPr lang="en-US" sz="1600" b="1" dirty="0">
                <a:solidFill>
                  <a:schemeClr val="accent1"/>
                </a:solidFill>
                <a:latin typeface="Calibri" panose="020F0502020204030204" pitchFamily="34" charset="0"/>
                <a:ea typeface="Calibri" panose="020F0502020204030204" pitchFamily="34" charset="0"/>
                <a:cs typeface="Calibri" panose="020F0502020204030204" pitchFamily="34" charset="0"/>
              </a:rPr>
              <a:t>Decision Making</a:t>
            </a:r>
            <a:r>
              <a:rPr lang="en-US" sz="1600" dirty="0">
                <a:solidFill>
                  <a:schemeClr val="accent1"/>
                </a:solidFill>
                <a:latin typeface="Calibri" panose="020F0502020204030204" pitchFamily="34" charset="0"/>
                <a:ea typeface="Calibri" panose="020F0502020204030204" pitchFamily="34" charset="0"/>
                <a:cs typeface="Calibri" panose="020F0502020204030204" pitchFamily="34" charset="0"/>
              </a:rPr>
              <a:t> </a:t>
            </a:r>
            <a:r>
              <a:rPr lang="en-US" sz="1600" dirty="0">
                <a:latin typeface="Calibri" panose="020F0502020204030204" pitchFamily="34" charset="0"/>
                <a:ea typeface="Calibri" panose="020F0502020204030204" pitchFamily="34" charset="0"/>
                <a:cs typeface="Calibri" panose="020F0502020204030204" pitchFamily="34" charset="0"/>
              </a:rPr>
              <a:t>:- Assign a status to each claim: complete (all good), incomplete (missing docs/fields), or </a:t>
            </a:r>
            <a:r>
              <a:rPr lang="en-US" sz="1600" dirty="0" err="1">
                <a:latin typeface="Calibri" panose="020F0502020204030204" pitchFamily="34" charset="0"/>
                <a:ea typeface="Calibri" panose="020F0502020204030204" pitchFamily="34" charset="0"/>
                <a:cs typeface="Calibri" panose="020F0502020204030204" pitchFamily="34" charset="0"/>
              </a:rPr>
              <a:t>needs_review</a:t>
            </a:r>
            <a:r>
              <a:rPr lang="en-US" sz="1600" dirty="0">
                <a:latin typeface="Calibri" panose="020F0502020204030204" pitchFamily="34" charset="0"/>
                <a:ea typeface="Calibri" panose="020F0502020204030204" pitchFamily="34" charset="0"/>
                <a:cs typeface="Calibri" panose="020F0502020204030204" pitchFamily="34" charset="0"/>
              </a:rPr>
              <a:t> (conflicts or low-confidence data).</a:t>
            </a:r>
          </a:p>
          <a:p>
            <a:pPr marL="494100" indent="-457200">
              <a:buSzPct val="90000"/>
              <a:buFont typeface="+mj-lt"/>
              <a:buAutoNum type="arabicPeriod"/>
            </a:pPr>
            <a:r>
              <a:rPr lang="en-US" sz="1600" b="1" dirty="0">
                <a:solidFill>
                  <a:schemeClr val="accent1"/>
                </a:solidFill>
                <a:latin typeface="Calibri" panose="020F0502020204030204" pitchFamily="34" charset="0"/>
                <a:ea typeface="Calibri" panose="020F0502020204030204" pitchFamily="34" charset="0"/>
                <a:cs typeface="Calibri" panose="020F0502020204030204" pitchFamily="34" charset="0"/>
              </a:rPr>
              <a:t>Multi-Turn Processing</a:t>
            </a:r>
            <a:r>
              <a:rPr lang="en-US" sz="1600" dirty="0">
                <a:solidFill>
                  <a:schemeClr val="accent1"/>
                </a:solidFill>
                <a:latin typeface="Calibri" panose="020F0502020204030204" pitchFamily="34" charset="0"/>
                <a:ea typeface="Calibri" panose="020F0502020204030204" pitchFamily="34" charset="0"/>
                <a:cs typeface="Calibri" panose="020F0502020204030204" pitchFamily="34" charset="0"/>
              </a:rPr>
              <a:t> </a:t>
            </a:r>
            <a:r>
              <a:rPr lang="en-US" sz="1600" dirty="0">
                <a:latin typeface="Calibri" panose="020F0502020204030204" pitchFamily="34" charset="0"/>
                <a:ea typeface="Calibri" panose="020F0502020204030204" pitchFamily="34" charset="0"/>
                <a:cs typeface="Calibri" panose="020F0502020204030204" pitchFamily="34" charset="0"/>
              </a:rPr>
              <a:t>:- Some claims include a customer reply email. Process the original docs first, figure out what's missing, then read the reply and re-evaluate.</a:t>
            </a:r>
          </a:p>
          <a:p>
            <a:pPr marL="494100" indent="-457200">
              <a:buSzPct val="90000"/>
              <a:buFont typeface="+mj-lt"/>
              <a:buAutoNum type="arabicPeriod"/>
            </a:pPr>
            <a:r>
              <a:rPr lang="en-US" sz="1600" b="1" dirty="0">
                <a:solidFill>
                  <a:schemeClr val="accent1"/>
                </a:solidFill>
                <a:latin typeface="Calibri" panose="020F0502020204030204" pitchFamily="34" charset="0"/>
                <a:ea typeface="Calibri" panose="020F0502020204030204" pitchFamily="34" charset="0"/>
                <a:cs typeface="Calibri" panose="020F0502020204030204" pitchFamily="34" charset="0"/>
              </a:rPr>
              <a:t>Interactive Mode</a:t>
            </a:r>
            <a:r>
              <a:rPr lang="en-US" sz="1600" dirty="0">
                <a:solidFill>
                  <a:schemeClr val="accent1"/>
                </a:solidFill>
                <a:latin typeface="Calibri" panose="020F0502020204030204" pitchFamily="34" charset="0"/>
                <a:ea typeface="Calibri" panose="020F0502020204030204" pitchFamily="34" charset="0"/>
                <a:cs typeface="Calibri" panose="020F0502020204030204" pitchFamily="34" charset="0"/>
              </a:rPr>
              <a:t> </a:t>
            </a:r>
            <a:r>
              <a:rPr lang="en-US" sz="1600" dirty="0">
                <a:latin typeface="Calibri" panose="020F0502020204030204" pitchFamily="34" charset="0"/>
                <a:ea typeface="Calibri" panose="020F0502020204030204" pitchFamily="34" charset="0"/>
                <a:cs typeface="Calibri" panose="020F0502020204030204" pitchFamily="34" charset="0"/>
              </a:rPr>
              <a:t>:- Build a CLI chat or simple web UI where a human can play the customer role and respond in real time. This is "highly encouraged," not strictly required, but it'll impress.</a:t>
            </a:r>
          </a:p>
          <a:p>
            <a:pPr marL="494100" indent="-457200">
              <a:buSzPct val="90000"/>
              <a:buFont typeface="+mj-lt"/>
              <a:buAutoNum type="arabicPeriod"/>
            </a:pPr>
            <a:r>
              <a:rPr lang="en-US" sz="1600" b="1" dirty="0">
                <a:solidFill>
                  <a:schemeClr val="accent1"/>
                </a:solidFill>
                <a:latin typeface="Calibri" panose="020F0502020204030204" pitchFamily="34" charset="0"/>
                <a:ea typeface="Calibri" panose="020F0502020204030204" pitchFamily="34" charset="0"/>
                <a:cs typeface="Calibri" panose="020F0502020204030204" pitchFamily="34" charset="0"/>
              </a:rPr>
              <a:t>Tool Design</a:t>
            </a:r>
            <a:r>
              <a:rPr lang="en-US" sz="1600" dirty="0">
                <a:solidFill>
                  <a:schemeClr val="accent1"/>
                </a:solidFill>
                <a:latin typeface="Calibri" panose="020F0502020204030204" pitchFamily="34" charset="0"/>
                <a:ea typeface="Calibri" panose="020F0502020204030204" pitchFamily="34" charset="0"/>
                <a:cs typeface="Calibri" panose="020F0502020204030204" pitchFamily="34" charset="0"/>
              </a:rPr>
              <a:t> </a:t>
            </a:r>
            <a:r>
              <a:rPr lang="en-US" sz="1600" dirty="0">
                <a:latin typeface="Calibri" panose="020F0502020204030204" pitchFamily="34" charset="0"/>
                <a:ea typeface="Calibri" panose="020F0502020204030204" pitchFamily="34" charset="0"/>
                <a:cs typeface="Calibri" panose="020F0502020204030204" pitchFamily="34" charset="0"/>
              </a:rPr>
              <a:t>:- The agent decides at runtime what to call, not a hardcoded pipeline.</a:t>
            </a:r>
          </a:p>
          <a:p>
            <a:pPr marL="494100" indent="-457200">
              <a:buSzPct val="90000"/>
              <a:buFont typeface="+mj-lt"/>
              <a:buAutoNum type="arabicPeriod"/>
            </a:pPr>
            <a:r>
              <a:rPr lang="en-US" sz="1600" b="1" dirty="0">
                <a:solidFill>
                  <a:schemeClr val="accent1"/>
                </a:solidFill>
                <a:latin typeface="Calibri" panose="020F0502020204030204" pitchFamily="34" charset="0"/>
                <a:ea typeface="Calibri" panose="020F0502020204030204" pitchFamily="34" charset="0"/>
                <a:cs typeface="Calibri" panose="020F0502020204030204" pitchFamily="34" charset="0"/>
              </a:rPr>
              <a:t>Claim Prioritization</a:t>
            </a:r>
            <a:r>
              <a:rPr lang="en-US" sz="1600" dirty="0">
                <a:solidFill>
                  <a:schemeClr val="accent1"/>
                </a:solidFill>
                <a:latin typeface="Calibri" panose="020F0502020204030204" pitchFamily="34" charset="0"/>
                <a:ea typeface="Calibri" panose="020F0502020204030204" pitchFamily="34" charset="0"/>
                <a:cs typeface="Calibri" panose="020F0502020204030204" pitchFamily="34" charset="0"/>
              </a:rPr>
              <a:t> </a:t>
            </a:r>
            <a:r>
              <a:rPr lang="en-US" sz="1600" dirty="0">
                <a:latin typeface="Calibri" panose="020F0502020204030204" pitchFamily="34" charset="0"/>
                <a:ea typeface="Calibri" panose="020F0502020204030204" pitchFamily="34" charset="0"/>
                <a:cs typeface="Calibri" panose="020F0502020204030204" pitchFamily="34" charset="0"/>
              </a:rPr>
              <a:t>:- After processing all 5 claims, rank them by recommended processing order with reasoning.</a:t>
            </a:r>
          </a:p>
          <a:p>
            <a:pPr marL="494100" indent="-457200">
              <a:buSzPct val="90000"/>
              <a:buFont typeface="+mj-lt"/>
              <a:buAutoNum type="arabicPeriod"/>
            </a:pPr>
            <a:r>
              <a:rPr lang="en-US" sz="1600" b="1" dirty="0">
                <a:solidFill>
                  <a:schemeClr val="accent1"/>
                </a:solidFill>
                <a:latin typeface="Calibri" panose="020F0502020204030204" pitchFamily="34" charset="0"/>
                <a:ea typeface="Calibri" panose="020F0502020204030204" pitchFamily="34" charset="0"/>
                <a:cs typeface="Calibri" panose="020F0502020204030204" pitchFamily="34" charset="0"/>
              </a:rPr>
              <a:t>Structured Output</a:t>
            </a:r>
            <a:r>
              <a:rPr lang="en-US" sz="1600" dirty="0">
                <a:solidFill>
                  <a:schemeClr val="accent1"/>
                </a:solidFill>
                <a:latin typeface="Calibri" panose="020F0502020204030204" pitchFamily="34" charset="0"/>
                <a:ea typeface="Calibri" panose="020F0502020204030204" pitchFamily="34" charset="0"/>
                <a:cs typeface="Calibri" panose="020F0502020204030204" pitchFamily="34" charset="0"/>
              </a:rPr>
              <a:t> </a:t>
            </a:r>
            <a:r>
              <a:rPr lang="en-US" sz="1600" dirty="0">
                <a:latin typeface="Calibri" panose="020F0502020204030204" pitchFamily="34" charset="0"/>
                <a:ea typeface="Calibri" panose="020F0502020204030204" pitchFamily="34" charset="0"/>
                <a:cs typeface="Calibri" panose="020F0502020204030204" pitchFamily="34" charset="0"/>
              </a:rPr>
              <a:t>:- JSON output per claim with extracted fields, document inventory, issues, next actions, and tools used.</a:t>
            </a:r>
          </a:p>
          <a:p>
            <a:pPr marL="494100" indent="-457200">
              <a:buSzPct val="90000"/>
              <a:buFont typeface="+mj-lt"/>
              <a:buAutoNum type="arabicPeriod"/>
            </a:pPr>
            <a:r>
              <a:rPr lang="en-US" sz="1600" b="1" dirty="0">
                <a:solidFill>
                  <a:schemeClr val="accent1"/>
                </a:solidFill>
                <a:latin typeface="Calibri" panose="020F0502020204030204" pitchFamily="34" charset="0"/>
                <a:ea typeface="Calibri" panose="020F0502020204030204" pitchFamily="34" charset="0"/>
                <a:cs typeface="Calibri" panose="020F0502020204030204" pitchFamily="34" charset="0"/>
              </a:rPr>
              <a:t>Customer Communication</a:t>
            </a:r>
            <a:r>
              <a:rPr lang="en-US" sz="1600" dirty="0">
                <a:solidFill>
                  <a:schemeClr val="accent1"/>
                </a:solidFill>
                <a:latin typeface="Calibri" panose="020F0502020204030204" pitchFamily="34" charset="0"/>
                <a:ea typeface="Calibri" panose="020F0502020204030204" pitchFamily="34" charset="0"/>
                <a:cs typeface="Calibri" panose="020F0502020204030204" pitchFamily="34" charset="0"/>
              </a:rPr>
              <a:t> </a:t>
            </a:r>
            <a:r>
              <a:rPr lang="en-US" sz="1600" dirty="0">
                <a:latin typeface="Calibri" panose="020F0502020204030204" pitchFamily="34" charset="0"/>
                <a:ea typeface="Calibri" panose="020F0502020204030204" pitchFamily="34" charset="0"/>
                <a:cs typeface="Calibri" panose="020F0502020204030204" pitchFamily="34" charset="0"/>
              </a:rPr>
              <a:t>:- Write a human-friendly message when something is missing or inconsistent.</a:t>
            </a:r>
          </a:p>
        </p:txBody>
      </p:sp>
    </p:spTree>
    <p:extLst>
      <p:ext uri="{BB962C8B-B14F-4D97-AF65-F5344CB8AC3E}">
        <p14:creationId xmlns:p14="http://schemas.microsoft.com/office/powerpoint/2010/main" val="31621589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C8582A7-20C7-AFC8-78E3-53CA9A0CABBD}"/>
              </a:ext>
            </a:extLst>
          </p:cNvPr>
          <p:cNvSpPr/>
          <p:nvPr/>
        </p:nvSpPr>
        <p:spPr>
          <a:xfrm>
            <a:off x="2533650" y="2613025"/>
            <a:ext cx="1682750" cy="12319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err="1">
                <a:latin typeface="Calibri" panose="020F0502020204030204" pitchFamily="34" charset="0"/>
                <a:ea typeface="Calibri" panose="020F0502020204030204" pitchFamily="34" charset="0"/>
                <a:cs typeface="Calibri" panose="020F0502020204030204" pitchFamily="34" charset="0"/>
              </a:rPr>
              <a:t>Streamlit</a:t>
            </a:r>
            <a:r>
              <a:rPr lang="en-IN" dirty="0">
                <a:latin typeface="Calibri" panose="020F0502020204030204" pitchFamily="34" charset="0"/>
                <a:ea typeface="Calibri" panose="020F0502020204030204" pitchFamily="34" charset="0"/>
                <a:cs typeface="Calibri" panose="020F0502020204030204" pitchFamily="34" charset="0"/>
              </a:rPr>
              <a:t> UI</a:t>
            </a:r>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12" name="Rectangle 11">
            <a:extLst>
              <a:ext uri="{FF2B5EF4-FFF2-40B4-BE49-F238E27FC236}">
                <a16:creationId xmlns:a16="http://schemas.microsoft.com/office/drawing/2014/main" id="{385A6087-9D5D-374B-8959-FF256A0B962D}"/>
              </a:ext>
            </a:extLst>
          </p:cNvPr>
          <p:cNvSpPr/>
          <p:nvPr/>
        </p:nvSpPr>
        <p:spPr>
          <a:xfrm>
            <a:off x="5254625" y="2613025"/>
            <a:ext cx="1682750" cy="12319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latin typeface="Calibri" panose="020F0502020204030204" pitchFamily="34" charset="0"/>
              <a:ea typeface="Calibri" panose="020F0502020204030204" pitchFamily="34" charset="0"/>
              <a:cs typeface="Calibri" panose="020F0502020204030204" pitchFamily="34" charset="0"/>
            </a:endParaRPr>
          </a:p>
          <a:p>
            <a:pPr algn="ctr"/>
            <a:endParaRPr lang="en-IN" dirty="0">
              <a:latin typeface="Calibri" panose="020F0502020204030204" pitchFamily="34" charset="0"/>
              <a:ea typeface="Calibri" panose="020F0502020204030204" pitchFamily="34" charset="0"/>
              <a:cs typeface="Calibri" panose="020F0502020204030204" pitchFamily="34" charset="0"/>
            </a:endParaRPr>
          </a:p>
          <a:p>
            <a:pPr algn="ctr"/>
            <a:r>
              <a:rPr lang="en-IN" dirty="0">
                <a:latin typeface="Calibri" panose="020F0502020204030204" pitchFamily="34" charset="0"/>
                <a:ea typeface="Calibri" panose="020F0502020204030204" pitchFamily="34" charset="0"/>
                <a:cs typeface="Calibri" panose="020F0502020204030204" pitchFamily="34" charset="0"/>
              </a:rPr>
              <a:t>Orchestrator</a:t>
            </a:r>
          </a:p>
          <a:p>
            <a:pPr algn="ctr"/>
            <a:r>
              <a:rPr lang="en-US" sz="1200" dirty="0">
                <a:latin typeface="Calibri" panose="020F0502020204030204" pitchFamily="34" charset="0"/>
                <a:ea typeface="Calibri" panose="020F0502020204030204" pitchFamily="34" charset="0"/>
                <a:cs typeface="Calibri" panose="020F0502020204030204" pitchFamily="34" charset="0"/>
              </a:rPr>
              <a:t>(llama-3.3-70b-versatile)</a:t>
            </a:r>
          </a:p>
          <a:p>
            <a:pPr algn="ctr"/>
            <a:endParaRPr lang="en-IN" dirty="0">
              <a:latin typeface="Calibri" panose="020F0502020204030204" pitchFamily="34" charset="0"/>
              <a:ea typeface="Calibri" panose="020F0502020204030204" pitchFamily="34" charset="0"/>
              <a:cs typeface="Calibri" panose="020F0502020204030204" pitchFamily="34" charset="0"/>
            </a:endParaRPr>
          </a:p>
          <a:p>
            <a:pPr algn="ctr"/>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13" name="Oval 12">
            <a:extLst>
              <a:ext uri="{FF2B5EF4-FFF2-40B4-BE49-F238E27FC236}">
                <a16:creationId xmlns:a16="http://schemas.microsoft.com/office/drawing/2014/main" id="{1D88B3AA-9515-C2DE-8400-92179AB980B7}"/>
              </a:ext>
            </a:extLst>
          </p:cNvPr>
          <p:cNvSpPr/>
          <p:nvPr/>
        </p:nvSpPr>
        <p:spPr>
          <a:xfrm>
            <a:off x="9042399" y="2559841"/>
            <a:ext cx="2321171" cy="137319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latin typeface="Calibri" panose="020F0502020204030204" pitchFamily="34" charset="0"/>
                <a:ea typeface="Calibri" panose="020F0502020204030204" pitchFamily="34" charset="0"/>
                <a:cs typeface="Calibri" panose="020F0502020204030204" pitchFamily="34" charset="0"/>
              </a:rPr>
              <a:t>Validation</a:t>
            </a:r>
          </a:p>
          <a:p>
            <a:pPr algn="ctr"/>
            <a:r>
              <a:rPr lang="en-US" sz="1200" dirty="0">
                <a:latin typeface="Calibri" panose="020F0502020204030204" pitchFamily="34" charset="0"/>
                <a:ea typeface="Calibri" panose="020F0502020204030204" pitchFamily="34" charset="0"/>
                <a:cs typeface="Calibri" panose="020F0502020204030204" pitchFamily="34" charset="0"/>
              </a:rPr>
              <a:t>(llama-3.1-8b-instant)</a:t>
            </a:r>
          </a:p>
        </p:txBody>
      </p:sp>
      <p:sp>
        <p:nvSpPr>
          <p:cNvPr id="14" name="Oval 13">
            <a:extLst>
              <a:ext uri="{FF2B5EF4-FFF2-40B4-BE49-F238E27FC236}">
                <a16:creationId xmlns:a16="http://schemas.microsoft.com/office/drawing/2014/main" id="{E7E03286-A152-8775-D4CB-2AD2057D9CFB}"/>
              </a:ext>
            </a:extLst>
          </p:cNvPr>
          <p:cNvSpPr/>
          <p:nvPr/>
        </p:nvSpPr>
        <p:spPr>
          <a:xfrm>
            <a:off x="9544050" y="4936201"/>
            <a:ext cx="2244725" cy="123005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latin typeface="Calibri" panose="020F0502020204030204" pitchFamily="34" charset="0"/>
                <a:ea typeface="Calibri" panose="020F0502020204030204" pitchFamily="34" charset="0"/>
                <a:cs typeface="Calibri" panose="020F0502020204030204" pitchFamily="34" charset="0"/>
              </a:rPr>
              <a:t>Text Extraction</a:t>
            </a:r>
          </a:p>
          <a:p>
            <a:pPr algn="ctr"/>
            <a:r>
              <a:rPr lang="en-US" sz="1200" dirty="0">
                <a:latin typeface="Calibri" panose="020F0502020204030204" pitchFamily="34" charset="0"/>
                <a:ea typeface="Calibri" panose="020F0502020204030204" pitchFamily="34" charset="0"/>
                <a:cs typeface="Calibri" panose="020F0502020204030204" pitchFamily="34" charset="0"/>
              </a:rPr>
              <a:t>(llama-3.1-8b-instant)</a:t>
            </a:r>
          </a:p>
        </p:txBody>
      </p:sp>
      <p:sp>
        <p:nvSpPr>
          <p:cNvPr id="15" name="Oval 14">
            <a:extLst>
              <a:ext uri="{FF2B5EF4-FFF2-40B4-BE49-F238E27FC236}">
                <a16:creationId xmlns:a16="http://schemas.microsoft.com/office/drawing/2014/main" id="{4F56E171-5535-C159-D922-D84454B176CD}"/>
              </a:ext>
            </a:extLst>
          </p:cNvPr>
          <p:cNvSpPr/>
          <p:nvPr/>
        </p:nvSpPr>
        <p:spPr>
          <a:xfrm>
            <a:off x="5930900" y="5009631"/>
            <a:ext cx="2711450" cy="106414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latin typeface="Calibri" panose="020F0502020204030204" pitchFamily="34" charset="0"/>
                <a:ea typeface="Calibri" panose="020F0502020204030204" pitchFamily="34" charset="0"/>
                <a:cs typeface="Calibri" panose="020F0502020204030204" pitchFamily="34" charset="0"/>
              </a:rPr>
              <a:t>Document Parser</a:t>
            </a:r>
          </a:p>
          <a:p>
            <a:pPr algn="ctr"/>
            <a:r>
              <a:rPr lang="en-IN" dirty="0">
                <a:latin typeface="Calibri" panose="020F0502020204030204" pitchFamily="34" charset="0"/>
                <a:ea typeface="Calibri" panose="020F0502020204030204" pitchFamily="34" charset="0"/>
                <a:cs typeface="Calibri" panose="020F0502020204030204" pitchFamily="34" charset="0"/>
              </a:rPr>
              <a:t>(</a:t>
            </a:r>
            <a:r>
              <a:rPr lang="en-US" sz="1200" dirty="0">
                <a:latin typeface="Calibri" panose="020F0502020204030204" pitchFamily="34" charset="0"/>
                <a:ea typeface="Calibri" panose="020F0502020204030204" pitchFamily="34" charset="0"/>
                <a:cs typeface="Calibri" panose="020F0502020204030204" pitchFamily="34" charset="0"/>
              </a:rPr>
              <a:t>llama-4-scout-17b-16e-instruct</a:t>
            </a:r>
            <a:r>
              <a:rPr lang="en-IN" dirty="0">
                <a:latin typeface="Calibri" panose="020F0502020204030204" pitchFamily="34" charset="0"/>
                <a:ea typeface="Calibri" panose="020F0502020204030204" pitchFamily="34" charset="0"/>
                <a:cs typeface="Calibri" panose="020F0502020204030204" pitchFamily="34" charset="0"/>
              </a:rPr>
              <a:t>)</a:t>
            </a:r>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16" name="Oval 15">
            <a:extLst>
              <a:ext uri="{FF2B5EF4-FFF2-40B4-BE49-F238E27FC236}">
                <a16:creationId xmlns:a16="http://schemas.microsoft.com/office/drawing/2014/main" id="{0DB0F241-7149-90E4-4240-E5787693E206}"/>
              </a:ext>
            </a:extLst>
          </p:cNvPr>
          <p:cNvSpPr/>
          <p:nvPr/>
        </p:nvSpPr>
        <p:spPr>
          <a:xfrm>
            <a:off x="8915400" y="431800"/>
            <a:ext cx="2343150" cy="137319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latin typeface="Calibri" panose="020F0502020204030204" pitchFamily="34" charset="0"/>
                <a:ea typeface="Calibri" panose="020F0502020204030204" pitchFamily="34" charset="0"/>
                <a:cs typeface="Calibri" panose="020F0502020204030204" pitchFamily="34" charset="0"/>
              </a:rPr>
              <a:t>Customer Message</a:t>
            </a:r>
          </a:p>
          <a:p>
            <a:pPr algn="ctr"/>
            <a:r>
              <a:rPr lang="en-US" sz="1200" dirty="0">
                <a:latin typeface="Calibri" panose="020F0502020204030204" pitchFamily="34" charset="0"/>
                <a:ea typeface="Calibri" panose="020F0502020204030204" pitchFamily="34" charset="0"/>
                <a:cs typeface="Calibri" panose="020F0502020204030204" pitchFamily="34" charset="0"/>
              </a:rPr>
              <a:t>(llama-3.1-8b-instant)</a:t>
            </a:r>
            <a:endParaRPr lang="en-IN" sz="1200" dirty="0">
              <a:latin typeface="Calibri" panose="020F0502020204030204" pitchFamily="34" charset="0"/>
              <a:ea typeface="Calibri" panose="020F0502020204030204" pitchFamily="34" charset="0"/>
              <a:cs typeface="Calibri" panose="020F0502020204030204" pitchFamily="34" charset="0"/>
            </a:endParaRPr>
          </a:p>
          <a:p>
            <a:pPr algn="ctr"/>
            <a:endParaRPr lang="en-US" dirty="0">
              <a:latin typeface="Calibri" panose="020F0502020204030204" pitchFamily="34" charset="0"/>
              <a:ea typeface="Calibri" panose="020F0502020204030204" pitchFamily="34" charset="0"/>
              <a:cs typeface="Calibri" panose="020F0502020204030204" pitchFamily="34" charset="0"/>
            </a:endParaRPr>
          </a:p>
        </p:txBody>
      </p:sp>
      <p:cxnSp>
        <p:nvCxnSpPr>
          <p:cNvPr id="18" name="Straight Arrow Connector 17">
            <a:extLst>
              <a:ext uri="{FF2B5EF4-FFF2-40B4-BE49-F238E27FC236}">
                <a16:creationId xmlns:a16="http://schemas.microsoft.com/office/drawing/2014/main" id="{A6F17526-B822-1240-210A-DB2F14B8A041}"/>
              </a:ext>
            </a:extLst>
          </p:cNvPr>
          <p:cNvCxnSpPr>
            <a:cxnSpLocks/>
            <a:stCxn id="7" idx="3"/>
            <a:endCxn id="12" idx="1"/>
          </p:cNvCxnSpPr>
          <p:nvPr/>
        </p:nvCxnSpPr>
        <p:spPr>
          <a:xfrm>
            <a:off x="4216400" y="3228975"/>
            <a:ext cx="1038225"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E10BA8D0-8061-8E5B-A84F-422CEC7DCFC8}"/>
              </a:ext>
            </a:extLst>
          </p:cNvPr>
          <p:cNvCxnSpPr>
            <a:cxnSpLocks/>
            <a:endCxn id="16" idx="3"/>
          </p:cNvCxnSpPr>
          <p:nvPr/>
        </p:nvCxnSpPr>
        <p:spPr>
          <a:xfrm flipV="1">
            <a:off x="6937375" y="1603893"/>
            <a:ext cx="2321171" cy="1144074"/>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9E779491-0E40-B7D1-B156-8613129D9C03}"/>
              </a:ext>
            </a:extLst>
          </p:cNvPr>
          <p:cNvCxnSpPr>
            <a:cxnSpLocks/>
            <a:stCxn id="12" idx="3"/>
            <a:endCxn id="13" idx="2"/>
          </p:cNvCxnSpPr>
          <p:nvPr/>
        </p:nvCxnSpPr>
        <p:spPr>
          <a:xfrm>
            <a:off x="6937375" y="3228975"/>
            <a:ext cx="2105024" cy="17462"/>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2140E04F-27E6-C0AC-288B-46B0AB608E93}"/>
              </a:ext>
            </a:extLst>
          </p:cNvPr>
          <p:cNvCxnSpPr>
            <a:cxnSpLocks/>
            <a:endCxn id="15" idx="0"/>
          </p:cNvCxnSpPr>
          <p:nvPr/>
        </p:nvCxnSpPr>
        <p:spPr>
          <a:xfrm>
            <a:off x="6664325" y="3844925"/>
            <a:ext cx="622300" cy="1164706"/>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59F8B5FD-1672-E4B6-52AF-A8751415787C}"/>
              </a:ext>
            </a:extLst>
          </p:cNvPr>
          <p:cNvCxnSpPr>
            <a:cxnSpLocks/>
            <a:stCxn id="15" idx="6"/>
            <a:endCxn id="14" idx="2"/>
          </p:cNvCxnSpPr>
          <p:nvPr/>
        </p:nvCxnSpPr>
        <p:spPr>
          <a:xfrm>
            <a:off x="8642350" y="5541703"/>
            <a:ext cx="901700" cy="9524"/>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690236AC-16B1-8BAE-675D-1E1C7B583323}"/>
              </a:ext>
            </a:extLst>
          </p:cNvPr>
          <p:cNvCxnSpPr>
            <a:endCxn id="7" idx="1"/>
          </p:cNvCxnSpPr>
          <p:nvPr/>
        </p:nvCxnSpPr>
        <p:spPr>
          <a:xfrm flipV="1">
            <a:off x="1714500" y="3228975"/>
            <a:ext cx="819150" cy="174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938A83C4-C04F-ADD4-5929-1699851193CD}"/>
              </a:ext>
            </a:extLst>
          </p:cNvPr>
          <p:cNvSpPr txBox="1"/>
          <p:nvPr/>
        </p:nvSpPr>
        <p:spPr>
          <a:xfrm>
            <a:off x="381000" y="3016766"/>
            <a:ext cx="1276350" cy="369332"/>
          </a:xfrm>
          <a:prstGeom prst="rect">
            <a:avLst/>
          </a:prstGeom>
          <a:noFill/>
        </p:spPr>
        <p:txBody>
          <a:bodyPr wrap="square" rtlCol="0">
            <a:spAutoFit/>
          </a:bodyPr>
          <a:lstStyle/>
          <a:p>
            <a:r>
              <a:rPr lang="en-IN" dirty="0">
                <a:latin typeface="Calibri" panose="020F0502020204030204" pitchFamily="34" charset="0"/>
                <a:ea typeface="Calibri" panose="020F0502020204030204" pitchFamily="34" charset="0"/>
                <a:cs typeface="Calibri" panose="020F0502020204030204" pitchFamily="34" charset="0"/>
              </a:rPr>
              <a:t>User Input</a:t>
            </a:r>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46" name="TextBox 45">
            <a:extLst>
              <a:ext uri="{FF2B5EF4-FFF2-40B4-BE49-F238E27FC236}">
                <a16:creationId xmlns:a16="http://schemas.microsoft.com/office/drawing/2014/main" id="{FF3C0D7D-29FD-EB32-3DF2-5ED1A14010AA}"/>
              </a:ext>
            </a:extLst>
          </p:cNvPr>
          <p:cNvSpPr txBox="1"/>
          <p:nvPr/>
        </p:nvSpPr>
        <p:spPr>
          <a:xfrm>
            <a:off x="381000" y="431800"/>
            <a:ext cx="4356100" cy="738664"/>
          </a:xfrm>
          <a:prstGeom prst="rect">
            <a:avLst/>
          </a:prstGeom>
          <a:noFill/>
        </p:spPr>
        <p:txBody>
          <a:bodyPr wrap="square" rtlCol="0">
            <a:spAutoFit/>
          </a:bodyPr>
          <a:lstStyle/>
          <a:p>
            <a:r>
              <a:rPr lang="en-IN" sz="2400" dirty="0">
                <a:ea typeface="Calibri" panose="020F0502020204030204" pitchFamily="34" charset="0"/>
                <a:cs typeface="Calibri" panose="020F0502020204030204" pitchFamily="34" charset="0"/>
              </a:rPr>
              <a:t>High-Level System Design </a:t>
            </a:r>
          </a:p>
          <a:p>
            <a:r>
              <a:rPr lang="en-IN" dirty="0">
                <a:ea typeface="Calibri" panose="020F0502020204030204" pitchFamily="34" charset="0"/>
                <a:cs typeface="Calibri" panose="020F0502020204030204" pitchFamily="34" charset="0"/>
              </a:rPr>
              <a:t>(</a:t>
            </a:r>
            <a:r>
              <a:rPr lang="en-IN" dirty="0" err="1">
                <a:ea typeface="Calibri" panose="020F0502020204030204" pitchFamily="34" charset="0"/>
                <a:cs typeface="Calibri" panose="020F0502020204030204" pitchFamily="34" charset="0"/>
              </a:rPr>
              <a:t>ReAct</a:t>
            </a:r>
            <a:r>
              <a:rPr lang="en-IN" dirty="0">
                <a:ea typeface="Calibri" panose="020F0502020204030204" pitchFamily="34" charset="0"/>
                <a:cs typeface="Calibri" panose="020F0502020204030204" pitchFamily="34" charset="0"/>
              </a:rPr>
              <a:t> = </a:t>
            </a:r>
            <a:r>
              <a:rPr lang="en-US" dirty="0">
                <a:ea typeface="Calibri" panose="020F0502020204030204" pitchFamily="34" charset="0"/>
                <a:cs typeface="Calibri" panose="020F0502020204030204" pitchFamily="34" charset="0"/>
              </a:rPr>
              <a:t>Reasoning + Acting</a:t>
            </a:r>
            <a:r>
              <a:rPr lang="en-IN" dirty="0">
                <a:ea typeface="Calibri" panose="020F0502020204030204" pitchFamily="34" charset="0"/>
                <a:cs typeface="Calibri" panose="020F0502020204030204" pitchFamily="34" charset="0"/>
              </a:rPr>
              <a:t>)</a:t>
            </a:r>
            <a:endParaRPr lang="en-US" dirty="0">
              <a:ea typeface="Calibri" panose="020F0502020204030204" pitchFamily="34" charset="0"/>
              <a:cs typeface="Calibri" panose="020F0502020204030204" pitchFamily="34" charset="0"/>
            </a:endParaRPr>
          </a:p>
        </p:txBody>
      </p:sp>
      <p:cxnSp>
        <p:nvCxnSpPr>
          <p:cNvPr id="75" name="Straight Arrow Connector 74">
            <a:extLst>
              <a:ext uri="{FF2B5EF4-FFF2-40B4-BE49-F238E27FC236}">
                <a16:creationId xmlns:a16="http://schemas.microsoft.com/office/drawing/2014/main" id="{17E8101C-0735-0608-2339-02A79D036ACB}"/>
              </a:ext>
            </a:extLst>
          </p:cNvPr>
          <p:cNvCxnSpPr>
            <a:endCxn id="16" idx="2"/>
          </p:cNvCxnSpPr>
          <p:nvPr/>
        </p:nvCxnSpPr>
        <p:spPr>
          <a:xfrm flipV="1">
            <a:off x="3714750" y="1118396"/>
            <a:ext cx="5200650" cy="1494629"/>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3440759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Slate">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docProps/app.xml><?xml version="1.0" encoding="utf-8"?>
<Properties xmlns="http://schemas.openxmlformats.org/officeDocument/2006/extended-properties" xmlns:vt="http://schemas.openxmlformats.org/officeDocument/2006/docPropsVTypes">
  <Template>TM04033929[[fn=Slate]]</Template>
  <TotalTime>59</TotalTime>
  <Words>400</Words>
  <Application>Microsoft Office PowerPoint</Application>
  <PresentationFormat>Widescreen</PresentationFormat>
  <Paragraphs>31</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Calibri</vt:lpstr>
      <vt:lpstr>Calisto MT</vt:lpstr>
      <vt:lpstr>Wingdings 2</vt:lpstr>
      <vt:lpstr>Slate</vt:lpstr>
      <vt:lpstr>AI Claims Processing Agent</vt:lpstr>
      <vt:lpstr>Functional Requirements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Katale, Shreyas</dc:creator>
  <cp:lastModifiedBy>Katale, Shreyas</cp:lastModifiedBy>
  <cp:revision>1</cp:revision>
  <dcterms:created xsi:type="dcterms:W3CDTF">2026-04-23T02:41:25Z</dcterms:created>
  <dcterms:modified xsi:type="dcterms:W3CDTF">2026-04-23T03:40:30Z</dcterms:modified>
</cp:coreProperties>
</file>